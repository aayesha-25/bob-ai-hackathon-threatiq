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9144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46C1D3"/>
                </a:solidFill>
                <a:latin typeface="Aptos"/>
              </a:rPr>
              <a:t>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7830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Threat Intelligence Correlation &amp;
Alert Prioritisation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 smtClean="0">
                <a:solidFill>
                  <a:srgbClr val="EFF4F9"/>
                </a:solidFill>
                <a:latin typeface="Aptos"/>
              </a:rPr>
              <a:t>ThreatIQ</a:t>
            </a:r>
            <a:endParaRPr sz="2400" b="1" dirty="0">
              <a:solidFill>
                <a:srgbClr val="EFF4F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367588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C6"/>
                </a:solidFill>
                <a:latin typeface="Aptos"/>
              </a:rPr>
              <a:t>AI / Open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0652760" cy="804672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928616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F4F9"/>
                </a:solidFill>
                <a:latin typeface="Aptos"/>
              </a:rPr>
              <a:t>From noisy security alerts → correlated threats → prioritised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7044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14A"/>
                </a:solidFill>
                <a:latin typeface="Aptos"/>
              </a:rPr>
              <a:t>DEMO DATA • SIMULATED SECURITY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Security teams receive signals faster than analysts can turn them into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46C1D3"/>
                </a:solidFill>
                <a:latin typeface="Aptos"/>
              </a:rPr>
              <a:t>Analyst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526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EFF4F9"/>
                </a:solidFill>
                <a:latin typeface="Aptos"/>
              </a:defRPr>
            </a:pPr>
            <a:r>
              <a:t>• Alerts arrive from multiple disconnected sources.</a:t>
            </a:r>
          </a:p>
          <a:p>
            <a:pPr>
              <a:spcAft>
                <a:spcPts val="1100"/>
              </a:spcAft>
              <a:defRPr sz="2200">
                <a:solidFill>
                  <a:srgbClr val="EFF4F9"/>
                </a:solidFill>
                <a:latin typeface="Aptos"/>
              </a:defRPr>
            </a:pPr>
            <a:r>
              <a:t>• Related events can look like separate incidents.</a:t>
            </a:r>
          </a:p>
          <a:p>
            <a:pPr>
              <a:spcAft>
                <a:spcPts val="1100"/>
              </a:spcAft>
              <a:defRPr sz="2200">
                <a:solidFill>
                  <a:srgbClr val="EFF4F9"/>
                </a:solidFill>
                <a:latin typeface="Aptos"/>
              </a:defRPr>
            </a:pPr>
            <a:r>
              <a:t>• High-risk activity can be buried in routine noise.</a:t>
            </a:r>
          </a:p>
          <a:p>
            <a:pPr>
              <a:spcAft>
                <a:spcPts val="1100"/>
              </a:spcAft>
              <a:defRPr sz="2200">
                <a:solidFill>
                  <a:srgbClr val="EFF4F9"/>
                </a:solidFill>
                <a:latin typeface="Aptos"/>
              </a:defRPr>
            </a:pPr>
            <a:r>
              <a:t>• Commanders need a concise, defensible bottom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349240" cy="44348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105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B14A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505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FF4F9"/>
                </a:solidFill>
                <a:latin typeface="Aptos"/>
              </a:rPr>
              <a:t>The operational gap is not just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90672"/>
            <a:ext cx="4526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FF4F9"/>
                </a:solidFill>
                <a:latin typeface="Aptos"/>
              </a:rPr>
              <a:t>It is turning fragmented telemetry into a prioritised, explainable threat picture quickly enough to 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77316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46C1D3"/>
                </a:solidFill>
                <a:latin typeface="Aptos"/>
              </a:rPr>
              <a:t>ARES targets that decision-support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ARES builds an intelligence picture from simulated multi-source telemetry.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6002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2039112"/>
            <a:ext cx="1453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5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4864" cy="713232"/>
          </a:xfrm>
          <a:prstGeom prst="rect">
            <a:avLst/>
          </a:prstGeom>
          <a:solidFill>
            <a:srgbClr val="46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221991" y="2231136"/>
            <a:ext cx="219457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874519"/>
            <a:ext cx="16002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2039112"/>
            <a:ext cx="1453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13 alerts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874519"/>
            <a:ext cx="54864" cy="713232"/>
          </a:xfrm>
          <a:prstGeom prst="rect">
            <a:avLst/>
          </a:prstGeom>
          <a:solidFill>
            <a:srgbClr val="46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4142232" y="2231136"/>
            <a:ext cx="219456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1874519"/>
            <a:ext cx="16002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039112"/>
            <a:ext cx="1453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3 clusters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874519"/>
            <a:ext cx="54864" cy="713232"/>
          </a:xfrm>
          <a:prstGeom prst="rect">
            <a:avLst/>
          </a:prstGeom>
          <a:solidFill>
            <a:srgbClr val="E8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6062472" y="2231136"/>
            <a:ext cx="265176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1874519"/>
            <a:ext cx="164592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039112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Risk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74519"/>
            <a:ext cx="54864" cy="713232"/>
          </a:xfrm>
          <a:prstGeom prst="rect">
            <a:avLst/>
          </a:prstGeom>
          <a:solidFill>
            <a:srgbClr val="DD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8074152" y="2231136"/>
            <a:ext cx="219456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66760" y="1874519"/>
            <a:ext cx="150876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2" y="2039112"/>
            <a:ext cx="1362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MITRE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874519"/>
            <a:ext cx="54864" cy="713232"/>
          </a:xfrm>
          <a:prstGeom prst="rect">
            <a:avLst/>
          </a:prstGeom>
          <a:solidFill>
            <a:srgbClr val="5CB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9902952" y="2231136"/>
            <a:ext cx="128016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1874519"/>
            <a:ext cx="150876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77272" y="2039112"/>
            <a:ext cx="1362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BLUF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1874519"/>
            <a:ext cx="54864" cy="713232"/>
          </a:xfrm>
          <a:prstGeom prst="rect">
            <a:avLst/>
          </a:prstGeom>
          <a:solidFill>
            <a:srgbClr val="46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43000" y="3337560"/>
            <a:ext cx="9921240" cy="19202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27117" y="347471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DD5B5B"/>
                </a:solidFill>
                <a:latin typeface="Aptos"/>
              </a:rPr>
              <a:t>Critical scenario surfaced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2139" y="4343401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EFF4F9"/>
                </a:solidFill>
                <a:latin typeface="Aptos"/>
              </a:rPr>
              <a:t>Host-4471  •  Cobalt Strike beacon  •  C2: 185.220.101.45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73659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C6"/>
                </a:solidFill>
                <a:latin typeface="Aptos"/>
              </a:rPr>
              <a:t>Risk 100/100  •  CRITICAL  •  7 correlated alerts  •  90% 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A modular pipeline keeps correlation and prioritisation under application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0574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764792"/>
            <a:ext cx="19110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Simulated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4864" cy="713232"/>
          </a:xfrm>
          <a:prstGeom prst="rect">
            <a:avLst/>
          </a:prstGeom>
          <a:solidFill>
            <a:srgbClr val="46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63240" y="1600200"/>
            <a:ext cx="20574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6392" y="1764792"/>
            <a:ext cx="19110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Normalisation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600200"/>
            <a:ext cx="54864" cy="713232"/>
          </a:xfrm>
          <a:prstGeom prst="rect">
            <a:avLst/>
          </a:prstGeom>
          <a:solidFill>
            <a:srgbClr val="46C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40680" y="1600200"/>
            <a:ext cx="20574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13832" y="1764792"/>
            <a:ext cx="19110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Correlation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600200"/>
            <a:ext cx="54864" cy="713232"/>
          </a:xfrm>
          <a:prstGeom prst="rect">
            <a:avLst/>
          </a:prstGeom>
          <a:solidFill>
            <a:srgbClr val="E8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18120" y="1600200"/>
            <a:ext cx="173736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2" y="176479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Risk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600200"/>
            <a:ext cx="54864" cy="713232"/>
          </a:xfrm>
          <a:prstGeom prst="rect">
            <a:avLst/>
          </a:prstGeom>
          <a:solidFill>
            <a:srgbClr val="DD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0" y="1600200"/>
            <a:ext cx="1600200" cy="713232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764792"/>
            <a:ext cx="1453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F4F9"/>
                </a:solidFill>
                <a:latin typeface="Aptos"/>
              </a:rPr>
              <a:t>MITRE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600200"/>
            <a:ext cx="54864" cy="713232"/>
          </a:xfrm>
          <a:prstGeom prst="rect">
            <a:avLst/>
          </a:prstGeom>
          <a:solidFill>
            <a:srgbClr val="5CB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761488" y="1956816"/>
            <a:ext cx="301752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38928" y="1956816"/>
            <a:ext cx="301752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16368" y="1956816"/>
            <a:ext cx="301752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1956816"/>
            <a:ext cx="320040" cy="0"/>
          </a:xfrm>
          <a:prstGeom prst="line">
            <a:avLst/>
          </a:prstGeom>
          <a:ln w="25400">
            <a:solidFill>
              <a:srgbClr val="A5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17320" y="2880360"/>
            <a:ext cx="9326880" cy="233172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73352" y="29718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46C1D3"/>
                </a:solidFill>
                <a:latin typeface="Aptos"/>
              </a:rPr>
              <a:t>FastAPI</a:t>
            </a:r>
            <a:r>
              <a:rPr sz="2400" b="1" dirty="0">
                <a:solidFill>
                  <a:srgbClr val="46C1D3"/>
                </a:solidFill>
                <a:latin typeface="Aptos"/>
              </a:rPr>
              <a:t> application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8780" y="3473087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EFF4F9"/>
                </a:solidFill>
                <a:latin typeface="Aptos"/>
              </a:rPr>
              <a:t>Jinja2 + Tailwind + JavaScript command-</a:t>
            </a:r>
            <a:r>
              <a:rPr sz="2000" b="0" dirty="0" err="1">
                <a:solidFill>
                  <a:srgbClr val="EFF4F9"/>
                </a:solidFill>
                <a:latin typeface="Aptos"/>
              </a:rPr>
              <a:t>centre</a:t>
            </a:r>
            <a:r>
              <a:rPr sz="2000" b="0" dirty="0">
                <a:solidFill>
                  <a:srgbClr val="EFF4F9"/>
                </a:solidFill>
                <a:latin typeface="Aptos"/>
              </a:rPr>
              <a:t>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3060" y="385958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A5B4C6"/>
                </a:solidFill>
                <a:latin typeface="Aptos"/>
              </a:rPr>
              <a:t>REST APIs expose sources, alerts, clusters, status and BLUF reports.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8780" y="4279391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EFF4F9"/>
                </a:solidFill>
                <a:latin typeface="Aptos"/>
              </a:rPr>
              <a:t>LLM-assisted BLUF 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3060" y="46505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5B4C6"/>
                </a:solidFill>
                <a:latin typeface="Aptos"/>
              </a:rPr>
              <a:t>External LLM is used for report generation; core scoring/correlation remains deterministic.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Demo / Key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One threat story, traced from raw signals to commander-ready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749039" cy="452628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133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46C1D3"/>
                </a:solidFill>
                <a:latin typeface="Aptos"/>
              </a:rPr>
              <a:t>Correlated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3154680" cy="566928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39" y="2351639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DD5B5B"/>
                </a:solidFill>
                <a:latin typeface="Aptos"/>
              </a:rPr>
              <a:t>TI-0000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450591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FF4F9"/>
                </a:solidFill>
                <a:latin typeface="Aptos"/>
              </a:rPr>
              <a:t>Known Cobalt Strike 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3154680" cy="566928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35807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E8B14A"/>
                </a:solidFill>
                <a:latin typeface="Aptos"/>
              </a:rPr>
              <a:t>SIEM-0000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136391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FF4F9"/>
                </a:solidFill>
                <a:latin typeface="Aptos"/>
              </a:rPr>
              <a:t>Encoded PowerShell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3154680" cy="566928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878" y="374773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DD5B5B"/>
                </a:solidFill>
                <a:latin typeface="Aptos"/>
              </a:rPr>
              <a:t>SIEM-0003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822191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FF4F9"/>
                </a:solidFill>
                <a:latin typeface="Aptos"/>
              </a:rPr>
              <a:t>Cobalt Strike beacon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3154680" cy="566928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5434" y="445312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DD5B5B"/>
                </a:solidFill>
                <a:latin typeface="Aptos"/>
              </a:rPr>
              <a:t>FW-0000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5079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FF4F9"/>
                </a:solidFill>
                <a:latin typeface="Aptos"/>
              </a:rPr>
              <a:t>C2 traffic flagged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3154680" cy="566928"/>
          </a:xfrm>
          <a:prstGeom prst="roundRect">
            <a:avLst/>
          </a:prstGeom>
          <a:solidFill>
            <a:srgbClr val="15263B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5434" y="51297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46C1D3"/>
                </a:solidFill>
                <a:latin typeface="Aptos"/>
              </a:rPr>
              <a:t>NET-0000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1937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FF4F9"/>
                </a:solidFill>
                <a:latin typeface="Aptos"/>
              </a:rPr>
              <a:t>Outbound HTTPS to 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39" y="1595628"/>
            <a:ext cx="6858000" cy="452628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768" y="15819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DD5B5B"/>
                </a:solidFill>
                <a:latin typeface="Aptos"/>
              </a:rPr>
              <a:t>BLUF —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112264"/>
            <a:ext cx="5897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EFF4F9"/>
                </a:solidFill>
                <a:latin typeface="Aptos"/>
              </a:rPr>
              <a:t>Host-4471 is compromised and acting as a Cobalt Strike beacon, communicating with the known C2 server.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3899916"/>
            <a:ext cx="173736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84063" y="3941064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5B5B"/>
                </a:solidFill>
                <a:latin typeface="Aptos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4416552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Risk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858768"/>
            <a:ext cx="173736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68312" y="3849624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C1D3"/>
                </a:solidFill>
                <a:latin typeface="Aptos"/>
              </a:rP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398264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Confidence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3867912"/>
            <a:ext cx="173736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3849624"/>
            <a:ext cx="1408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14A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4398264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A5B4C6"/>
                </a:solidFill>
                <a:latin typeface="Aptos"/>
              </a:rPr>
              <a:t>Evidence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B14A"/>
                </a:solidFill>
                <a:latin typeface="Aptos"/>
              </a:rPr>
              <a:t>Recommended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550468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EFF4F9"/>
                </a:solidFill>
                <a:latin typeface="Aptos"/>
              </a:rPr>
              <a:t>Isolate host-4471 • block outbound C2 • investigate and remediate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IBM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How IBM Bob supported the build — without overstating integrations that are not present.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452628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C1D3"/>
                </a:solidFill>
                <a:latin typeface="Aptos"/>
              </a:rPr>
              <a:t>IBM Bob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EFF4F9"/>
                </a:solidFill>
                <a:latin typeface="Aptos"/>
              </a:rPr>
              <a:t>AI-assisted development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343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Used to accelerate implementation and iteration.</a:t>
            </a:r>
          </a:p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Supported debugging, code refinement and UI/backend integration.</a:t>
            </a:r>
          </a:p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Enabled rapid prototyping of the end-to-end intelligence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49240" cy="452628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8B14A"/>
                </a:solidFill>
                <a:latin typeface="Aptos"/>
              </a:rPr>
              <a:t>What ARES does not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57984"/>
            <a:ext cx="4434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No live IBM watsonx.ai deployment is claimed.</a:t>
            </a:r>
          </a:p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No production SIEM or defence-system connection.</a:t>
            </a:r>
          </a:p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No real classified or operational telemetry.</a:t>
            </a:r>
          </a:p>
          <a:p>
            <a:pPr>
              <a:spcAft>
                <a:spcPts val="11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t>• LLM generation is used only for the BLUF reporting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230368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B585"/>
                </a:solidFill>
                <a:latin typeface="Aptos"/>
              </a:rPr>
              <a:t>Honest scope strengthens the prototype.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F4F9"/>
                </a:solidFill>
                <a:latin typeface="Aptos"/>
              </a:rPr>
              <a:t>Results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B4C6"/>
                </a:solidFill>
                <a:latin typeface="Aptos"/>
              </a:rPr>
              <a:t>The prototype demonstrates a complete intelligence pipeline, not just a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6888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55063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6C1D3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0370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Simulated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46888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655063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14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20370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Correlated 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508760"/>
            <a:ext cx="246888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1655063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D5B5B"/>
                </a:solidFill>
                <a:latin typeface="Aptos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0370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Critical risk surfaced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508760"/>
            <a:ext cx="2468880" cy="1234440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42832" y="1655063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B585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20370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C6"/>
                </a:solidFill>
                <a:latin typeface="Aptos"/>
              </a:rPr>
              <a:t>ATT&amp;CK techniques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08494"/>
            <a:ext cx="10561320" cy="2790553"/>
          </a:xfrm>
          <a:prstGeom prst="roundRect">
            <a:avLst/>
          </a:prstGeom>
          <a:solidFill>
            <a:srgbClr val="101D2E"/>
          </a:solidFill>
          <a:ln w="12700">
            <a:solidFill>
              <a:srgbClr val="27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29347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46C1D3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" y="3606492"/>
            <a:ext cx="9464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rPr dirty="0"/>
              <a:t>• Reduces alert fragmentation by grouping related events into investigation clusters.</a:t>
            </a:r>
          </a:p>
          <a:p>
            <a:pPr>
              <a:spcAft>
                <a:spcPts val="9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rPr dirty="0"/>
              <a:t>• Makes </a:t>
            </a:r>
            <a:r>
              <a:rPr dirty="0" err="1"/>
              <a:t>prioritisation</a:t>
            </a:r>
            <a:r>
              <a:rPr dirty="0"/>
              <a:t> explainable through risk breakdowns and confidence.</a:t>
            </a:r>
          </a:p>
          <a:p>
            <a:pPr>
              <a:spcAft>
                <a:spcPts val="900"/>
              </a:spcAft>
              <a:defRPr sz="2100">
                <a:solidFill>
                  <a:srgbClr val="EFF4F9"/>
                </a:solidFill>
                <a:latin typeface="Aptos"/>
              </a:defRPr>
            </a:pPr>
            <a:r>
              <a:rPr dirty="0"/>
              <a:t>• Turns the highest-risk cluster into a concise BLUF with evidence and recommended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32180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F4F9"/>
                </a:solidFill>
                <a:latin typeface="Aptos"/>
              </a:rPr>
              <a:t>Success criterion: faster movement from signal → threat understanding →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5B4C6"/>
                </a:solidFill>
                <a:latin typeface="Aptos"/>
              </a:rPr>
              <a:t>ARES  •  Threat Intelligence Correlation &amp; Alert Prioritisation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5B4C6"/>
                </a:solidFill>
                <a:latin typeface="Aptos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552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Aayesha shaikh</dc:creator>
  <cp:keywords/>
  <dc:description>generated using python-pptx</dc:description>
  <cp:lastModifiedBy>Ayesha Shaikh</cp:lastModifiedBy>
  <cp:revision>4</cp:revision>
  <dcterms:created xsi:type="dcterms:W3CDTF">2013-01-27T09:14:16Z</dcterms:created>
  <dcterms:modified xsi:type="dcterms:W3CDTF">2026-09-15T15:37:11Z</dcterms:modified>
  <cp:category/>
</cp:coreProperties>
</file>